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28598" y="1292423"/>
            <a:ext cx="38866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灵犀手套 LingxiGlove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064050" y="1978223"/>
            <a:ext cx="1015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8624" y="2270224"/>
            <a:ext cx="2586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双节点手语翻译系统 KickOff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20709" y="2809875"/>
            <a:ext cx="31024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8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全国大学生物联网设计竞赛 · Espressif 赛道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459" y="3352651"/>
            <a:ext cx="1792932" cy="498277"/>
          </a:xfrm>
          <a:prstGeom prst="roundRect">
            <a:avLst>
              <a:gd name="adj" fmla="val 30585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53160" y="3530352"/>
            <a:ext cx="1466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Lingxi Team · 2026-05-23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问题陈述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23925"/>
            <a:ext cx="634901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15926"/>
            <a:ext cx="2573834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215926"/>
            <a:ext cx="0" cy="958602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726" y="1393627"/>
            <a:ext cx="216230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2,780 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26" y="1834902"/>
            <a:ext cx="2162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中国听障群体人数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4934" y="1215926"/>
            <a:ext cx="2573982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8747" y="1215926"/>
            <a:ext cx="0" cy="958602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5710" y="1393627"/>
            <a:ext cx="2162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35710" y="1768227"/>
            <a:ext cx="2162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中文手语词汇量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62067" y="1215926"/>
            <a:ext cx="2573982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85880" y="1215926"/>
            <a:ext cx="0" cy="958602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2843" y="1393627"/>
            <a:ext cx="2162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12843" y="1768227"/>
            <a:ext cx="2162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手语翻译覆盖率估算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403128"/>
            <a:ext cx="829066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10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听障群体与健听人之间存在巨大的沟通鸿沟。现有商用手语翻译方案价格高昂（¥5,000 ~ ¥80,000），难以普及。需要一种低成本、高可用的实时手语→自然语音翻译方案。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3002607"/>
            <a:ext cx="8128099" cy="434876"/>
          </a:xfrm>
          <a:prstGeom prst="roundRect">
            <a:avLst>
              <a:gd name="adj" fmla="val 1168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1763" y="3002607"/>
            <a:ext cx="0" cy="43487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276" y="3129558"/>
            <a:ext cx="78795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目标：单手套 BOM ≈ ¥250，实现两个数量级降本，让手语翻译真正触手可及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价值主张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23925"/>
            <a:ext cx="634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15926"/>
            <a:ext cx="2590800" cy="1507927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239738"/>
            <a:ext cx="2590800" cy="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01" y="1466701"/>
            <a:ext cx="2228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社会价值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1101" y="1796802"/>
            <a:ext cx="222818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 2780 万听障群体打通"手语→自然语音"的实时沟通通道。面向就医、求助、日常交流等高频场景，降低沟通门槛。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76451" y="1215926"/>
            <a:ext cx="2590949" cy="1507927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76451" y="1239738"/>
            <a:ext cx="2590949" cy="0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9602" y="1466701"/>
            <a:ext cx="2228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技术价值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9602" y="1796802"/>
            <a:ext cx="222834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+ ESP-NOW 实现双手毫秒级时空同步。端侧规则识别→1D-CNN→云端 LLM 形成三级响应架构，渐进式 AI 升级。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45101" y="1215926"/>
            <a:ext cx="2590949" cy="1507927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45101" y="1239738"/>
            <a:ext cx="2590949" cy="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8251" y="1466701"/>
            <a:ext cx="2228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8251" y="1796802"/>
            <a:ext cx="222834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单手套 BOM ≈ ¥250，商用方案 ¥5k~¥80k。两个数量级降本，"极客普惠"叙事。契合 Espressif 赛道技术要求。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4201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系统五层架构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47725"/>
            <a:ext cx="634901" cy="381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3526"/>
            <a:ext cx="533251" cy="463451"/>
          </a:xfrm>
          <a:prstGeom prst="roundRect">
            <a:avLst>
              <a:gd name="adj" fmla="val 1096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0952" y="1228576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1202" y="1063526"/>
            <a:ext cx="7721798" cy="463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3127" y="1149251"/>
            <a:ext cx="7545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应用主控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GestureApp / FingerSpelling / 采集模式 · LingxiGlove_Main.ino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590377"/>
            <a:ext cx="533251" cy="463451"/>
          </a:xfrm>
          <a:prstGeom prst="roundRect">
            <a:avLst>
              <a:gd name="adj" fmla="val 10961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0952" y="1755428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1202" y="1590377"/>
            <a:ext cx="7721798" cy="463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127" y="1676102"/>
            <a:ext cx="7545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与端云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gesture_recognizer ← motion_detector · llm_client → tts_player → I2S · local_tts_fallback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117229"/>
            <a:ext cx="533251" cy="463451"/>
          </a:xfrm>
          <a:prstGeom prst="roundRect">
            <a:avLst>
              <a:gd name="adj" fmla="val 1096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0952" y="2282279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1202" y="2117229"/>
            <a:ext cx="7721798" cy="463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3127" y="2202954"/>
            <a:ext cx="7545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双手协同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esp_now_sync (HandFrame 30B, MASTER ↔ SLAVE) · nvs_config (运行时角色/凭证)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644080"/>
            <a:ext cx="533251" cy="463451"/>
          </a:xfrm>
          <a:prstGeom prst="roundRect">
            <a:avLst>
              <a:gd name="adj" fmla="val 10961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0952" y="2809131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1202" y="2644080"/>
            <a:ext cx="7721798" cy="463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03127" y="2729805"/>
            <a:ext cx="7545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传感器与执行器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sensor_manager (MPU6050 + Flex ADC) · calibration · tts_player (I2S + MAX98357A)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170932"/>
            <a:ext cx="533251" cy="463451"/>
          </a:xfrm>
          <a:prstGeom prst="roundRect">
            <a:avLst>
              <a:gd name="adj" fmla="val 10961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0952" y="3335982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1202" y="3170932"/>
            <a:ext cx="7721798" cy="463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03127" y="3256657"/>
            <a:ext cx="75459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Arduino + FreeRTOS + ESP-IDF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761333"/>
            <a:ext cx="3378250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9047" y="3881884"/>
            <a:ext cx="30960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(右手)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047" y="4113609"/>
            <a:ext cx="309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+ Flex + MAX98357A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047" y="4227909"/>
            <a:ext cx="3096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 / LLM / TTS / 播放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89350" y="3992910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84750" y="3761333"/>
            <a:ext cx="3378250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5847" y="3881884"/>
            <a:ext cx="30960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 (左手)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25847" y="4113609"/>
            <a:ext cx="309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5847" y="4227909"/>
            <a:ext cx="30960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传感器帧上报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304800"/>
            <a:ext cx="84978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硬件平台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1750" y="707975"/>
            <a:ext cx="634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873026"/>
            <a:ext cx="4419451" cy="493663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0800" y="873026"/>
            <a:ext cx="0" cy="493663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801" y="974527"/>
            <a:ext cx="420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Nano ESP32-S3 x2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6801" y="1133177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8MB Flash + 512KB SRAM + OPI PSRAM。240MHz 双核，WiFi + BLE。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1750" y="1442889"/>
            <a:ext cx="4419451" cy="522238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0800" y="1442889"/>
            <a:ext cx="0" cy="522238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801" y="1544389"/>
            <a:ext cx="4209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惯性传感器 x2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6801" y="1731615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轴 IMU（加速度 + 陀螺仪）。I2C，50ms 采样。双手各 1 个。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750" y="2041327"/>
            <a:ext cx="4419451" cy="522238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0800" y="2041327"/>
            <a:ext cx="0" cy="52223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801" y="2142827"/>
            <a:ext cx="4209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弯曲传感器 x1（拇指）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801" y="2330053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单路模块，AO 接 ADC。区分握拳/张开两态。后续扩至 5 路。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1750" y="2639764"/>
            <a:ext cx="4419451" cy="493663"/>
          </a:xfrm>
          <a:prstGeom prst="roundRect">
            <a:avLst>
              <a:gd name="adj" fmla="val 10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0800" y="2639764"/>
            <a:ext cx="0" cy="49366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741265"/>
            <a:ext cx="420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 I2S DAC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6801" y="2899916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音频输出，BCLK/LRC/DIN 接 D4/D5/D6。驱动喇叭语音播报。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1750" y="3209627"/>
            <a:ext cx="4419451" cy="522238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0800" y="3209627"/>
            <a:ext cx="0" cy="522238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801" y="3311128"/>
            <a:ext cx="4209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双板通信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6801" y="3498354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链路层直连，HandFrame 30B 帧。毫秒级延迟，信道随 AP 同步。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1750" y="3808065"/>
            <a:ext cx="4419451" cy="522238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0800" y="3808065"/>
            <a:ext cx="0" cy="522238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801" y="3909566"/>
            <a:ext cx="4209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NVS 运行时角色切换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6801" y="4096792"/>
            <a:ext cx="42099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单一固件，串口 role master/slave 切换。NVS 持久化，无需重编译。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1750" y="4406503"/>
            <a:ext cx="8331250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8226" y="4492228"/>
            <a:ext cx="8219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约束：RST 不插扩展板（否则 USB 消失）；Flex 避开 A4/A5（I2C）；仅 2.4GHz WiFi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4201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软件流水线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47725"/>
            <a:ext cx="634901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3526"/>
            <a:ext cx="1034802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136452"/>
            <a:ext cx="829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80852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46052" y="1063526"/>
            <a:ext cx="989261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57077" y="1136452"/>
            <a:ext cx="782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detector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73412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38611" y="1063526"/>
            <a:ext cx="735509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9637" y="1136452"/>
            <a:ext cx="523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12220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7419" y="1063526"/>
            <a:ext cx="1130647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88445" y="1136452"/>
            <a:ext cx="926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recognizer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46166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1366" y="1063526"/>
            <a:ext cx="673447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2391" y="1136452"/>
            <a:ext cx="460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22913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8112" y="1063526"/>
            <a:ext cx="662285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9138" y="1136452"/>
            <a:ext cx="449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88497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3696" y="1063526"/>
            <a:ext cx="673596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64722" y="1136452"/>
            <a:ext cx="460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player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65393" y="11221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30592" y="1063526"/>
            <a:ext cx="374600" cy="260152"/>
          </a:xfrm>
          <a:prstGeom prst="roundRect">
            <a:avLst>
              <a:gd name="adj" fmla="val 195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41618" y="1136452"/>
            <a:ext cx="15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950" y="1501378"/>
            <a:ext cx="8420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个核心 C++ 模块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950" y="1739503"/>
            <a:ext cx="984498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8976" y="1799779"/>
            <a:ext cx="7776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sensor_manager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55849" y="1739503"/>
            <a:ext cx="968276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66875" y="1799779"/>
            <a:ext cx="761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motion_detector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87526" y="1739503"/>
            <a:ext cx="703808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98552" y="1799779"/>
            <a:ext cx="4913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54735" y="1739503"/>
            <a:ext cx="1100882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65761" y="1799779"/>
            <a:ext cx="8964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gesture_recognizer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19017" y="1739503"/>
            <a:ext cx="1042541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30043" y="1799779"/>
            <a:ext cx="836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gesture_arbitrator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24959" y="1739503"/>
            <a:ext cx="899815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35985" y="1799779"/>
            <a:ext cx="6913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esp_now_sync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8175" y="1739503"/>
            <a:ext cx="677466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99200" y="1799779"/>
            <a:ext cx="4645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nvs_config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29041" y="1739503"/>
            <a:ext cx="788640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440067" y="1799779"/>
            <a:ext cx="577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wifi_manager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7950" y="2028230"/>
            <a:ext cx="656332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8976" y="2088505"/>
            <a:ext cx="442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http_client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227683" y="2028230"/>
            <a:ext cx="619125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338709" y="2088505"/>
            <a:ext cx="4050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910209" y="2028230"/>
            <a:ext cx="672108" cy="225326"/>
          </a:xfrm>
          <a:prstGeom prst="roundRect">
            <a:avLst>
              <a:gd name="adj" fmla="val 22545"/>
            </a:avLst>
          </a:prstGeom>
          <a:solidFill>
            <a:srgbClr val="EBF5FF"/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021235" y="2088505"/>
            <a:ext cx="45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tts_player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45718" y="2028230"/>
            <a:ext cx="947440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56743" y="2088505"/>
            <a:ext cx="7398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local_tts_fallback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56558" y="2028230"/>
            <a:ext cx="982861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767584" y="2088505"/>
            <a:ext cx="776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offline_voice_pcm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02820" y="2028230"/>
            <a:ext cx="809774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13846" y="2088505"/>
            <a:ext cx="5994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accuracy_test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75995" y="2028230"/>
            <a:ext cx="529084" cy="225326"/>
          </a:xfrm>
          <a:prstGeom prst="roundRect">
            <a:avLst>
              <a:gd name="adj" fmla="val 22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87020" y="2088505"/>
            <a:ext cx="3131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7950" y="2380506"/>
            <a:ext cx="1968550" cy="701576"/>
          </a:xfrm>
          <a:prstGeom prst="roundRect">
            <a:avLst>
              <a:gd name="adj" fmla="val 1086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3713" y="2507456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43713" y="2812256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.cpp 模块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603450" y="2380506"/>
            <a:ext cx="1968550" cy="701576"/>
          </a:xfrm>
          <a:prstGeom prst="roundRect">
            <a:avLst>
              <a:gd name="adj" fmla="val 1086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739213" y="2507456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739213" y="2812256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单测套件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698950" y="2380506"/>
            <a:ext cx="1968550" cy="701576"/>
          </a:xfrm>
          <a:prstGeom prst="roundRect">
            <a:avLst>
              <a:gd name="adj" fmla="val 1086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834713" y="2507456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30B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834713" y="2812256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HandFrame 协议帧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94450" y="2380506"/>
            <a:ext cx="1968550" cy="701576"/>
          </a:xfrm>
          <a:prstGeom prst="roundRect">
            <a:avLst>
              <a:gd name="adj" fmla="val 1086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930213" y="2507456"/>
            <a:ext cx="169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&lt;10ms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930213" y="2812256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每帧处理延迟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304800"/>
            <a:ext cx="84978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关键技术创新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1750" y="707975"/>
            <a:ext cx="634901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873026"/>
            <a:ext cx="4419600" cy="80828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1750" y="892076"/>
            <a:ext cx="44196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150" y="1038076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毫秒级硬同步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150" y="1269802"/>
            <a:ext cx="419709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链路层协议绕过 WiFi 栈。HandFrame 30B 含 proto_version，信道随 AP 同步。解决双手时空对齐核心难题。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1750" y="1782812"/>
            <a:ext cx="4419600" cy="80828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1750" y="1801862"/>
            <a:ext cx="44196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150" y="1947863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GestureArbitrator 统一决策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4150" y="2179588"/>
            <a:ext cx="419709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双手优先抑制单手（解决竞态），200ms 确认窗口 + 2s 冷却。模型无关，GestureCandidate 即接入。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750" y="2692598"/>
            <a:ext cx="4419600" cy="808286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1750" y="2711648"/>
            <a:ext cx="4419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150" y="2857649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Qwen-TTS + LittleFS 缓存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4150" y="3089374"/>
            <a:ext cx="419709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 Qwen-TTS 非流式 WAV。FNV-1a 哈希缓存 LittleFS，命中零网络延迟。PSRAM + I2S DMA。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1750" y="3602385"/>
            <a:ext cx="4419600" cy="666006"/>
          </a:xfrm>
          <a:prstGeom prst="roundRect">
            <a:avLst>
              <a:gd name="adj" fmla="val 76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1750" y="3621435"/>
            <a:ext cx="44196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150" y="3767435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断网离线 PCM 兜底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4150" y="3999161"/>
            <a:ext cx="419709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local_tts_fallback 按 label 匹配离线 PCM。空表降级蜂鸣。"断网也能说救命"。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572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三级渐进架构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23925"/>
            <a:ext cx="634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90625"/>
            <a:ext cx="2578150" cy="2106216"/>
          </a:xfrm>
          <a:prstGeom prst="roundRect">
            <a:avLst>
              <a:gd name="adj" fmla="val 361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382" y="1393775"/>
            <a:ext cx="22152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MVP-v1.1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9382" y="1654076"/>
            <a:ext cx="22152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端侧规则识别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9382" y="1958727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RuleBased + BimanualRule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9382" y="2169468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pitch/roll 阈值 + 500ms 防抖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9382" y="2380208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Qwen-LLM 改写 + Qwen-TTS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5700" y="2717899"/>
            <a:ext cx="482501" cy="337691"/>
          </a:xfrm>
          <a:prstGeom prst="roundRect">
            <a:avLst>
              <a:gd name="adj" fmla="val 37608"/>
            </a:avLst>
          </a:prstGeom>
          <a:solidFill>
            <a:srgbClr val="10B98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0365" y="2806750"/>
            <a:ext cx="23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3801" y="1190625"/>
            <a:ext cx="2578298" cy="2106216"/>
          </a:xfrm>
          <a:prstGeom prst="roundRect">
            <a:avLst>
              <a:gd name="adj" fmla="val 3618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5231" y="1393775"/>
            <a:ext cx="22154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5231" y="1654076"/>
            <a:ext cx="221543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Impulse 1D-CNN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5231" y="1958727"/>
            <a:ext cx="22154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双流模型（左右手各一流）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45231" y="2169468"/>
            <a:ext cx="22154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类 F1 &gt;= 0.85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45231" y="2380208"/>
            <a:ext cx="22154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板上推理 &lt; 50ms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68676" y="2717899"/>
            <a:ext cx="768400" cy="337691"/>
          </a:xfrm>
          <a:prstGeom prst="roundRect">
            <a:avLst>
              <a:gd name="adj" fmla="val 3760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90481" y="2806750"/>
            <a:ext cx="5247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进行中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19800" y="1190625"/>
            <a:ext cx="2616250" cy="2106216"/>
          </a:xfrm>
          <a:prstGeom prst="roundRect">
            <a:avLst>
              <a:gd name="adj" fmla="val 36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0282" y="1412825"/>
            <a:ext cx="22152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20282" y="1673126"/>
            <a:ext cx="22152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 Sign-Transformer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20282" y="1977777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端侧分级触发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20282" y="2188518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扩大词表至开放词汇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0282" y="2399258"/>
            <a:ext cx="221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端云协同降级链路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4726" y="2736949"/>
            <a:ext cx="946249" cy="337691"/>
          </a:xfrm>
          <a:prstGeom prst="roundRect">
            <a:avLst>
              <a:gd name="adj" fmla="val 3760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74753" y="2825800"/>
            <a:ext cx="706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P5-P6 规划中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950" y="3423791"/>
            <a:ext cx="8128099" cy="364927"/>
          </a:xfrm>
          <a:prstGeom prst="roundRect">
            <a:avLst>
              <a:gd name="adj" fmla="val 139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1763" y="3423791"/>
            <a:ext cx="0" cy="364927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276" y="3525292"/>
            <a:ext cx="7879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核心设计：GestureRecognizer 抽象基类，MVP→ML 切换零改动主循环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304800"/>
            <a:ext cx="85238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演示词汇清单（10 手势）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1750" y="707975"/>
            <a:ext cx="634901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196876"/>
            <a:ext cx="410215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1750" y="873026"/>
            <a:ext cx="4184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单手词汇（右手 Master）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1750" y="1282601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0800" y="1282601"/>
            <a:ext cx="0" cy="4920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050" y="1461939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9951" y="1447651"/>
            <a:ext cx="3361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46352" y="1480989"/>
            <a:ext cx="317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up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1750" y="1812727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0800" y="1812727"/>
            <a:ext cx="0" cy="4920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050" y="1992064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9951" y="1977777"/>
            <a:ext cx="3245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32796" y="2011114"/>
            <a:ext cx="4334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down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31750" y="2342852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0800" y="2342852"/>
            <a:ext cx="0" cy="4920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050" y="2522190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9951" y="2507903"/>
            <a:ext cx="33516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36678" y="2526953"/>
            <a:ext cx="3274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摆动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31750" y="2872978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0800" y="2872978"/>
            <a:ext cx="0" cy="4920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050" y="3052316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9951" y="3038029"/>
            <a:ext cx="34071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明白了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91000" y="3057079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竖拇指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1750" y="3403104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0800" y="3403104"/>
            <a:ext cx="0" cy="4920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050" y="3582442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9951" y="3568154"/>
            <a:ext cx="3172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61358" y="3587204"/>
            <a:ext cx="506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握拳+拇指弯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686300" y="1196876"/>
            <a:ext cx="410215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873026"/>
            <a:ext cx="4184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双手协同词汇（ESP-NOW）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86300" y="1282601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05350" y="1282601"/>
            <a:ext cx="0" cy="4920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461939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54501" y="1447651"/>
            <a:ext cx="3135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78998" y="1466701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双手同步上下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86300" y="1812727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05350" y="1812727"/>
            <a:ext cx="0" cy="4920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992064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54501" y="1977777"/>
            <a:ext cx="3135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一起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78998" y="1996827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双手同向推出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686300" y="2342852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705350" y="2342852"/>
            <a:ext cx="0" cy="4920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522190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54501" y="2507903"/>
            <a:ext cx="30822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27057" y="2526953"/>
            <a:ext cx="596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右手拳+左手托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686300" y="2872978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05350" y="2872978"/>
            <a:ext cx="0" cy="4920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052316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54501" y="3038029"/>
            <a:ext cx="3135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我爱你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78998" y="3057079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双手交叉胸口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686300" y="3403104"/>
            <a:ext cx="410215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05350" y="3403104"/>
            <a:ext cx="0" cy="49202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582442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54501" y="3568154"/>
            <a:ext cx="3225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我们走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67849" y="3587204"/>
            <a:ext cx="4532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代码待实现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31750" y="4009430"/>
            <a:ext cx="8356699" cy="285750"/>
          </a:xfrm>
          <a:prstGeom prst="roundRect">
            <a:avLst>
              <a:gd name="adj" fmla="val 17778"/>
            </a:avLst>
          </a:prstGeom>
          <a:solidFill>
            <a:srgbClr val="EB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58701" y="4085630"/>
            <a:ext cx="8264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全部词汇仅用 MPU6050 姿态角 + 拇指弯曲传感器，不依赖声学测距。任何人经短暂练习即可完成演示。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当前进展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012775"/>
            <a:ext cx="762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3047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8783" y="1380976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6651" y="1304776"/>
            <a:ext cx="13486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单手 MVP 完成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6651" y="1530102"/>
            <a:ext cx="13486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规则识别 + Qwen-TTS 闭环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35401" y="13047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39283" y="1380976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67151" y="1304776"/>
            <a:ext cx="16211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ESP-NOW 双板通信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7151" y="1530102"/>
            <a:ext cx="1621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2026-05-14 完成，NVS 角色切换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4901" y="191095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8783" y="1987153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6651" y="1910953"/>
            <a:ext cx="2312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阶段风险全部缓解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6651" y="2136279"/>
            <a:ext cx="2312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motion_detector / calibration / local_tts_fallback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35401" y="191095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39283" y="1987153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67151" y="1910953"/>
            <a:ext cx="1571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手势仲裁层 (Solution 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67151" y="2136279"/>
            <a:ext cx="15719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双手优先 + 确认窗口 + 冷却机制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4901" y="25171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8783" y="2593330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6651" y="2517130"/>
            <a:ext cx="1508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 Host 单测套件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6651" y="2742456"/>
            <a:ext cx="1508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全部通过，-Werror -Wpedantic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35401" y="25171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6518" y="2598093"/>
            <a:ext cx="432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67151" y="2517130"/>
            <a:ext cx="18287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弯曲传感器接入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67151" y="2742456"/>
            <a:ext cx="1828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拇指 1 路 Flex ADC，当前最高优先级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4901" y="4140398"/>
            <a:ext cx="1873300" cy="749201"/>
          </a:xfrm>
          <a:prstGeom prst="roundRect">
            <a:avLst>
              <a:gd name="adj" fmla="val 10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7138" y="4276874"/>
            <a:ext cx="1528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7138" y="4610249"/>
            <a:ext cx="1528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35151" y="4140398"/>
            <a:ext cx="1873448" cy="749201"/>
          </a:xfrm>
          <a:prstGeom prst="roundRect">
            <a:avLst>
              <a:gd name="adj" fmla="val 10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07387" y="4276874"/>
            <a:ext cx="152897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807387" y="4610249"/>
            <a:ext cx="15289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单测套件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35550" y="4140398"/>
            <a:ext cx="1873300" cy="749201"/>
          </a:xfrm>
          <a:prstGeom prst="roundRect">
            <a:avLst>
              <a:gd name="adj" fmla="val 10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7787" y="4276874"/>
            <a:ext cx="1528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07787" y="4610249"/>
            <a:ext cx="1528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演示手势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35800" y="4140398"/>
            <a:ext cx="1873300" cy="749201"/>
          </a:xfrm>
          <a:prstGeom prst="roundRect">
            <a:avLst>
              <a:gd name="adj" fmla="val 101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08037" y="4276874"/>
            <a:ext cx="1528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08037" y="4610249"/>
            <a:ext cx="1528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关键风险已缓解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9350"/>
            <a:ext cx="86273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项目路线图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682526"/>
            <a:ext cx="634901" cy="381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822127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822127"/>
            <a:ext cx="0" cy="49202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126" y="1001464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5676" y="987177"/>
            <a:ext cx="6001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单手 MVP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7560" y="1006227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 + Qwen-TTS 闭环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318599" y="980926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94799" y="1006227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1000" y="1352252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1352252"/>
            <a:ext cx="0" cy="49202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126" y="1531590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5676" y="1517303"/>
            <a:ext cx="57442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 固件 + ESP-NOW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5594" y="1536353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双板通信 + NVS 角色切换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066633" y="1511052"/>
            <a:ext cx="671066" cy="174427"/>
          </a:xfrm>
          <a:prstGeom prst="roundRect">
            <a:avLst>
              <a:gd name="adj" fmla="val 4368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42833" y="1536353"/>
            <a:ext cx="529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 05-14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1000" y="1882378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4813" y="1882378"/>
            <a:ext cx="0" cy="49202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126" y="2061716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5676" y="2047429"/>
            <a:ext cx="6001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弯曲传感器接入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7560" y="2066479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拇指 Flex ADC + 校准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318599" y="2041178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94799" y="2066479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1000" y="2412504"/>
            <a:ext cx="8458200" cy="463451"/>
          </a:xfrm>
          <a:prstGeom prst="roundRect">
            <a:avLst>
              <a:gd name="adj" fmla="val 82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04813" y="2412504"/>
            <a:ext cx="0" cy="463451"/>
          </a:xfrm>
          <a:prstGeom prst="line">
            <a:avLst/>
          </a:prstGeom>
          <a:noFill/>
          <a:ln w="476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126" y="2577554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5676" y="2577554"/>
            <a:ext cx="6001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Impulse 1D-CNN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7560" y="2582317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类 F1&gt;=0.85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18599" y="2557016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94799" y="2582317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待开始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1000" y="2914055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04813" y="2914055"/>
            <a:ext cx="0" cy="492026"/>
          </a:xfrm>
          <a:prstGeom prst="line">
            <a:avLst/>
          </a:prstGeom>
          <a:noFill/>
          <a:ln w="47625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126" y="3093393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5676" y="3079105"/>
            <a:ext cx="6091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声学 TDOA 测距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06411" y="3098155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仿真完成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407450" y="3072854"/>
            <a:ext cx="330250" cy="174427"/>
          </a:xfrm>
          <a:prstGeom prst="roundRect">
            <a:avLst>
              <a:gd name="adj" fmla="val 436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483650" y="3098155"/>
            <a:ext cx="1814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1000" y="3444180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04813" y="3444180"/>
            <a:ext cx="0" cy="492026"/>
          </a:xfrm>
          <a:prstGeom prst="line">
            <a:avLst/>
          </a:prstGeom>
          <a:noFill/>
          <a:ln w="476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126" y="3623518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5676" y="3609231"/>
            <a:ext cx="6001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 Sign-Transformer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17560" y="3628281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扩大词表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318599" y="3602980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394799" y="3628281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1000" y="3974306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04813" y="3974306"/>
            <a:ext cx="0" cy="492026"/>
          </a:xfrm>
          <a:prstGeom prst="line">
            <a:avLst/>
          </a:prstGeom>
          <a:noFill/>
          <a:ln w="476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126" y="4153644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5676" y="4139357"/>
            <a:ext cx="6001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端云协同 + 降级联调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17560" y="4158407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断网播核心词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18599" y="4133106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94799" y="4158407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81000" y="4504432"/>
            <a:ext cx="8458200" cy="492026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04813" y="4504432"/>
            <a:ext cx="0" cy="492026"/>
          </a:xfrm>
          <a:prstGeom prst="line">
            <a:avLst/>
          </a:prstGeom>
          <a:noFill/>
          <a:ln w="476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126" y="4683770"/>
            <a:ext cx="284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5676" y="4669482"/>
            <a:ext cx="6001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 + 答辩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17560" y="4688532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演示视频+现场对话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318599" y="4663232"/>
            <a:ext cx="419100" cy="174427"/>
          </a:xfrm>
          <a:prstGeom prst="roundRect">
            <a:avLst>
              <a:gd name="adj" fmla="val 436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394799" y="4688532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9350"/>
            <a:ext cx="86273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风险分析与缓解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682526"/>
            <a:ext cx="634901" cy="381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822127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822127"/>
            <a:ext cx="0" cy="4603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898327"/>
            <a:ext cx="75524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词表达力不足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6050" y="1072902"/>
            <a:ext cx="7552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中文手语 5500+ 词，10 手势覆盖有限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26598" y="898327"/>
            <a:ext cx="685651" cy="174427"/>
          </a:xfrm>
          <a:prstGeom prst="roundRect">
            <a:avLst>
              <a:gd name="adj" fmla="val 2912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02798" y="923627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指拼模式兜底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1000" y="1333202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1333202"/>
            <a:ext cx="0" cy="46032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050" y="1409402"/>
            <a:ext cx="78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动态手势分割 — 已缓解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1583978"/>
            <a:ext cx="7824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连续手势粘连 — motion_detector 静止门控已实现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293150" y="1409402"/>
            <a:ext cx="419100" cy="174427"/>
          </a:xfrm>
          <a:prstGeom prst="roundRect">
            <a:avLst>
              <a:gd name="adj" fmla="val 2912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69350" y="1434703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已缓解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1000" y="1844278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1844278"/>
            <a:ext cx="0" cy="4603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050" y="1920478"/>
            <a:ext cx="7476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跨用户识别率漂移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6050" y="2095054"/>
            <a:ext cx="7476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不同用户手势差异大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952333" y="1920478"/>
            <a:ext cx="759916" cy="174427"/>
          </a:xfrm>
          <a:prstGeom prst="roundRect">
            <a:avLst>
              <a:gd name="adj" fmla="val 2912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28533" y="1945779"/>
            <a:ext cx="61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校准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1000" y="2355354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355354"/>
            <a:ext cx="0" cy="46032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050" y="2431554"/>
            <a:ext cx="78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断网哑火 — 已缓解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6050" y="2606129"/>
            <a:ext cx="7824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云端不可达 — local_tts_fallback + offline_voice_pcm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293150" y="2431554"/>
            <a:ext cx="419100" cy="174427"/>
          </a:xfrm>
          <a:prstGeom prst="roundRect">
            <a:avLst>
              <a:gd name="adj" fmla="val 2912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69350" y="2456855"/>
            <a:ext cx="272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已缓解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1000" y="2866430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2866430"/>
            <a:ext cx="0" cy="4603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050" y="2942630"/>
            <a:ext cx="75422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弯曲传感器仅单路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6050" y="3117205"/>
            <a:ext cx="7542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只能区分握拳/张开两态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016627" y="2942630"/>
            <a:ext cx="695623" cy="174427"/>
          </a:xfrm>
          <a:prstGeom prst="roundRect">
            <a:avLst>
              <a:gd name="adj" fmla="val 2912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92827" y="2967930"/>
            <a:ext cx="5540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后续扩至 5 路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1000" y="3377505"/>
            <a:ext cx="8458200" cy="460325"/>
          </a:xfrm>
          <a:prstGeom prst="roundRect">
            <a:avLst>
              <a:gd name="adj" fmla="val 82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00050" y="3377505"/>
            <a:ext cx="0" cy="46032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050" y="3453705"/>
            <a:ext cx="74733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信道漂移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6050" y="3628281"/>
            <a:ext cx="7473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双手丢帧风险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49059" y="3453705"/>
            <a:ext cx="763191" cy="174427"/>
          </a:xfrm>
          <a:prstGeom prst="roundRect">
            <a:avLst>
              <a:gd name="adj" fmla="val 2912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25259" y="3479006"/>
            <a:ext cx="6230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强制同 AP 同步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4201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测试策略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47725"/>
            <a:ext cx="634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5450" y="1038225"/>
            <a:ext cx="2539901" cy="279350"/>
          </a:xfrm>
          <a:prstGeom prst="roundRect">
            <a:avLst>
              <a:gd name="adj" fmla="val 1363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93344" y="1106388"/>
            <a:ext cx="1513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现场准确率统计 (accuracy_test)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30550" y="1355675"/>
            <a:ext cx="3809851" cy="279350"/>
          </a:xfrm>
          <a:prstGeom prst="roundRect">
            <a:avLst>
              <a:gd name="adj" fmla="val 1363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64247" y="1438126"/>
            <a:ext cx="27971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Hardware-in-the-Loop: test_speaker / test_acoustic_tdoa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41450" y="1673126"/>
            <a:ext cx="5587901" cy="279350"/>
          </a:xfrm>
          <a:prstGeom prst="roundRect">
            <a:avLst>
              <a:gd name="adj" fmla="val 13639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91309" y="1741289"/>
            <a:ext cx="3149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Unit Tests: C++11, make 即跑, -Werror -Wpedantic, 8 个套件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079427"/>
            <a:ext cx="8420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单测套件（全部通过）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292102"/>
            <a:ext cx="1307455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2352377"/>
            <a:ext cx="11071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test_motion_detector (16)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78806" y="2292102"/>
            <a:ext cx="1296888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89832" y="2352377"/>
            <a:ext cx="10963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test_calibration_core (24)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39095" y="2292102"/>
            <a:ext cx="1349871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50121" y="2352377"/>
            <a:ext cx="11503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test_local_tts_fallback (20)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52367" y="2292102"/>
            <a:ext cx="1254621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3393" y="2352377"/>
            <a:ext cx="10532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test_esp_now_sync (24)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70389" y="2292102"/>
            <a:ext cx="1455688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81415" y="2352377"/>
            <a:ext cx="12583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test_bimanual_recognizer (8)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89478" y="2292102"/>
            <a:ext cx="1005632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00504" y="2352377"/>
            <a:ext cx="7992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test_arbitrator (24)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7950" y="2580829"/>
            <a:ext cx="889099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976" y="2641104"/>
            <a:ext cx="680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test_llm_rewrite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60450" y="2580829"/>
            <a:ext cx="899815" cy="225326"/>
          </a:xfrm>
          <a:prstGeom prst="roundRect">
            <a:avLst>
              <a:gd name="adj" fmla="val 22545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71476" y="2641104"/>
            <a:ext cx="6913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test_tts_parsers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7950" y="2907655"/>
            <a:ext cx="4064050" cy="615107"/>
          </a:xfrm>
          <a:prstGeom prst="roundRect">
            <a:avLst>
              <a:gd name="adj" fmla="val 123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07950" y="2926705"/>
            <a:ext cx="406405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350" y="3047256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accuracy_test 现场评测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0350" y="3278981"/>
            <a:ext cx="38344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混淆矩阵 + LittleFS CSV 日志。test 命令族支持按手势 ID 批量测试、导出、清除。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2907655"/>
            <a:ext cx="4064050" cy="615107"/>
          </a:xfrm>
          <a:prstGeom prst="roundRect">
            <a:avLst>
              <a:gd name="adj" fmla="val 123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8950" y="2926705"/>
            <a:ext cx="406405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1350" y="3047256"/>
            <a:ext cx="38344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友好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1350" y="3278981"/>
            <a:ext cx="38344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C++11，无 Arduino 依赖。每个测试目录自带 mock，make 直接编译运行。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355550"/>
            <a:ext cx="84978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1750" y="758726"/>
            <a:ext cx="634901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974527"/>
            <a:ext cx="8331250" cy="933748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5563" y="974527"/>
            <a:ext cx="0" cy="93374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076" y="11269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9711" y="12062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9577" y="1126927"/>
            <a:ext cx="3893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弯曲传感器接入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9577" y="1365052"/>
            <a:ext cx="389333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拇指 1 路 Flex ADC 接线 + 校准 + 手势规则更新。验证 ADC 差值 &gt; 200 count。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9577" y="1554212"/>
            <a:ext cx="907852" cy="201662"/>
          </a:xfrm>
          <a:prstGeom prst="roundRect">
            <a:avLst>
              <a:gd name="adj" fmla="val 37786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15777" y="1579513"/>
            <a:ext cx="77056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当前最高优先级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1750" y="2035225"/>
            <a:ext cx="8331250" cy="933748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5563" y="2035225"/>
            <a:ext cx="0" cy="933748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076" y="218762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9711" y="226695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9577" y="2187625"/>
            <a:ext cx="4492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双手数据采集 + Edge Impulse 1D-CNN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9577" y="2425750"/>
            <a:ext cx="4492963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每词汇 50+ 组样本，训练轻量 1D-CNN 模型，导出 Arduino 库替换 RuleBasedRecognizer。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9577" y="2614910"/>
            <a:ext cx="853976" cy="201662"/>
          </a:xfrm>
          <a:prstGeom prst="roundRect">
            <a:avLst>
              <a:gd name="adj" fmla="val 377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5777" y="2640211"/>
            <a:ext cx="71560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完成后启动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1750" y="3095923"/>
            <a:ext cx="8331250" cy="933748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5563" y="3095923"/>
            <a:ext cx="0" cy="933748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076" y="324832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9711" y="3327648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9577" y="3248323"/>
            <a:ext cx="4166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竞赛答辩准备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9577" y="3486448"/>
            <a:ext cx="416643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录制演示视频、完善 PPT、现场对话演示。确保"我们走"代码实现 + 离线 PCM 填充。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9577" y="3675608"/>
            <a:ext cx="853976" cy="201662"/>
          </a:xfrm>
          <a:prstGeom prst="roundRect">
            <a:avLst>
              <a:gd name="adj" fmla="val 377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15777" y="3700909"/>
            <a:ext cx="71560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完成后启动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97381" y="1416100"/>
            <a:ext cx="134908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064050" y="2181225"/>
            <a:ext cx="1015901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82128" y="2422475"/>
            <a:ext cx="9795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67" y="2813000"/>
            <a:ext cx="1645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灵犀手套 — 让手语被听见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38785" y="3457426"/>
            <a:ext cx="1466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B8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Lingxi Team · 2026-05-23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灵犀手套 LingxiGlove — 双节点手语翻译系统 KickOff</dc:title>
  <dc:subject>2026 全国大学生物联网设计竞赛 Espressif 赛道</dc:subject>
  <dc:creator>Lingxi Team</dc:creator>
  <cp:lastModifiedBy>Lingxi Team</cp:lastModifiedBy>
  <cp:revision>1</cp:revision>
  <dcterms:created xsi:type="dcterms:W3CDTF">2026-05-23T14:03:32Z</dcterms:created>
  <dcterms:modified xsi:type="dcterms:W3CDTF">2026-05-23T14:03:32Z</dcterms:modified>
</cp:coreProperties>
</file>